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22"/>
    <a:srgbClr val="0004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8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4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4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4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0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6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6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7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0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9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43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3CF2E9-F75E-4629-9FA8-8E9CC63F751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8ACE96-462F-478D-98D8-0CD92F90C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10/1/2026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845005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31" r:id="rId5"/>
    <p:sldLayoutId id="2147483932" r:id="rId6"/>
    <p:sldLayoutId id="2147483937" r:id="rId7"/>
    <p:sldLayoutId id="2147483933" r:id="rId8"/>
    <p:sldLayoutId id="2147483934" r:id="rId9"/>
    <p:sldLayoutId id="2147483935" r:id="rId10"/>
    <p:sldLayoutId id="2147483936" r:id="rId11"/>
    <p:sldLayoutId id="21474839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1815386-49F9-ACD8-E10B-83131153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5437187" cy="4792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/>
              <a:t>LLMs and Data Science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7014575-F0CE-4EAB-917E-3325411B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B3702B-264B-4A16-B3FF-E2B1366D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2A33E2F-6DB3-47D1-B577-F0D4289E8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4F24FF8-D392-412B-AB34-A7D89311B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467C42E-DBCD-8189-D0FD-3D6654395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0" r="-1" b="-1"/>
          <a:stretch>
            <a:fillRect/>
          </a:stretch>
        </p:blipFill>
        <p:spPr>
          <a:xfrm>
            <a:off x="4896763" y="-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AF41C1-1B2C-656D-3A60-F7F40428464F}"/>
              </a:ext>
            </a:extLst>
          </p:cNvPr>
          <p:cNvSpPr txBox="1"/>
          <p:nvPr/>
        </p:nvSpPr>
        <p:spPr>
          <a:xfrm>
            <a:off x="539999" y="4249057"/>
            <a:ext cx="1442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Keenan Roe</a:t>
            </a:r>
          </a:p>
        </p:txBody>
      </p:sp>
    </p:spTree>
    <p:extLst>
      <p:ext uri="{BB962C8B-B14F-4D97-AF65-F5344CB8AC3E}">
        <p14:creationId xmlns:p14="http://schemas.microsoft.com/office/powerpoint/2010/main" val="398109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57FE-6455-E78E-9983-23E7902B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8800" dirty="0"/>
              <a:t>The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227DE-9A9A-2440-B93F-0ED8638D66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Why it Matters </a:t>
            </a:r>
          </a:p>
          <a:p>
            <a:pPr marL="0" indent="0">
              <a:buNone/>
            </a:pPr>
            <a:endParaRPr lang="en-US" sz="1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3600" dirty="0"/>
              <a:t>LLMs have a massive effect on current and future data science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 Adoption of the technology is spreading across all analytical teams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8B2C8-8E9F-7DAE-04DA-8CC1A513A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6377" y="2577974"/>
            <a:ext cx="5437186" cy="236174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dirty="0"/>
              <a:t>Faster Iteration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200" dirty="0"/>
              <a:t>Lower Barrier to Entry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200" dirty="0"/>
              <a:t>Changing Roles </a:t>
            </a:r>
          </a:p>
        </p:txBody>
      </p:sp>
      <p:pic>
        <p:nvPicPr>
          <p:cNvPr id="20" name="Graphic 19" descr="Rabbit with solid fill">
            <a:extLst>
              <a:ext uri="{FF2B5EF4-FFF2-40B4-BE49-F238E27FC236}">
                <a16:creationId xmlns:a16="http://schemas.microsoft.com/office/drawing/2014/main" id="{FB904850-1A17-8F9E-6654-EAB2BAF58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4816" y="2545155"/>
            <a:ext cx="914400" cy="914400"/>
          </a:xfrm>
          <a:prstGeom prst="rect">
            <a:avLst/>
          </a:prstGeom>
        </p:spPr>
      </p:pic>
      <p:pic>
        <p:nvPicPr>
          <p:cNvPr id="30" name="Graphic 29" descr="Full Brick Wall with solid fill">
            <a:extLst>
              <a:ext uri="{FF2B5EF4-FFF2-40B4-BE49-F238E27FC236}">
                <a16:creationId xmlns:a16="http://schemas.microsoft.com/office/drawing/2014/main" id="{E48BB06D-C79A-F2F9-5833-9BA9C871B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4816" y="3426736"/>
            <a:ext cx="914400" cy="914400"/>
          </a:xfrm>
          <a:prstGeom prst="rect">
            <a:avLst/>
          </a:prstGeom>
        </p:spPr>
      </p:pic>
      <p:pic>
        <p:nvPicPr>
          <p:cNvPr id="32" name="Graphic 31" descr="Transfer with solid fill">
            <a:extLst>
              <a:ext uri="{FF2B5EF4-FFF2-40B4-BE49-F238E27FC236}">
                <a16:creationId xmlns:a16="http://schemas.microsoft.com/office/drawing/2014/main" id="{16A21354-9D58-3937-5354-CD720B0A1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977" y="42551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8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46CB-51D0-9E75-E271-0F76B602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Change to Workflow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C432A1-9413-27AB-160E-5AF85AD2B292}"/>
              </a:ext>
            </a:extLst>
          </p:cNvPr>
          <p:cNvSpPr/>
          <p:nvPr/>
        </p:nvSpPr>
        <p:spPr>
          <a:xfrm>
            <a:off x="7938004" y="2214625"/>
            <a:ext cx="1698171" cy="31970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Communication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46658E-725C-0A3F-E3A9-9317B46353DB}"/>
              </a:ext>
            </a:extLst>
          </p:cNvPr>
          <p:cNvSpPr/>
          <p:nvPr/>
        </p:nvSpPr>
        <p:spPr>
          <a:xfrm>
            <a:off x="9797144" y="2214624"/>
            <a:ext cx="1698171" cy="3197019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r>
              <a:rPr lang="en-US" dirty="0">
                <a:solidFill>
                  <a:schemeClr val="bg2"/>
                </a:solidFill>
              </a:rPr>
              <a:t>Launch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3C284E-F98C-43E8-D2C0-30C87FC6B76E}"/>
              </a:ext>
            </a:extLst>
          </p:cNvPr>
          <p:cNvSpPr/>
          <p:nvPr/>
        </p:nvSpPr>
        <p:spPr>
          <a:xfrm>
            <a:off x="531432" y="2192879"/>
            <a:ext cx="1698171" cy="3197019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r>
              <a:rPr lang="en-US" dirty="0">
                <a:solidFill>
                  <a:schemeClr val="bg2"/>
                </a:solidFill>
              </a:rPr>
              <a:t>Identify</a:t>
            </a:r>
          </a:p>
          <a:p>
            <a:pPr algn="ctr"/>
            <a:r>
              <a:rPr lang="en-US" dirty="0">
                <a:solidFill>
                  <a:schemeClr val="bg2"/>
                </a:solidFill>
              </a:rPr>
              <a:t>Problem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3EA35C-2394-8ABA-7991-AA842C8EAC4D}"/>
              </a:ext>
            </a:extLst>
          </p:cNvPr>
          <p:cNvSpPr/>
          <p:nvPr/>
        </p:nvSpPr>
        <p:spPr>
          <a:xfrm>
            <a:off x="2390572" y="2192880"/>
            <a:ext cx="1698171" cy="3197019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endParaRPr lang="en-US" dirty="0">
              <a:solidFill>
                <a:schemeClr val="bg2"/>
              </a:solidFill>
            </a:endParaRPr>
          </a:p>
          <a:p>
            <a:pPr algn="ctr"/>
            <a:r>
              <a:rPr lang="en-US" dirty="0">
                <a:solidFill>
                  <a:schemeClr val="bg2"/>
                </a:solidFill>
              </a:rPr>
              <a:t>Data Collection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A13ACB-C53B-BC04-CBAD-5AFC736E3E8F}"/>
              </a:ext>
            </a:extLst>
          </p:cNvPr>
          <p:cNvSpPr/>
          <p:nvPr/>
        </p:nvSpPr>
        <p:spPr>
          <a:xfrm>
            <a:off x="4241144" y="2192880"/>
            <a:ext cx="1698171" cy="31970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Cleaning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E3BE49-C381-995B-83F3-A2C97B7A190F}"/>
              </a:ext>
            </a:extLst>
          </p:cNvPr>
          <p:cNvSpPr/>
          <p:nvPr/>
        </p:nvSpPr>
        <p:spPr>
          <a:xfrm>
            <a:off x="6091716" y="2192879"/>
            <a:ext cx="1698171" cy="31970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Analysis and Modeling</a:t>
            </a:r>
          </a:p>
        </p:txBody>
      </p:sp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554334A6-2344-0B2D-D981-197DA6A71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317" y="2701212"/>
            <a:ext cx="914400" cy="914400"/>
          </a:xfrm>
          <a:prstGeom prst="rect">
            <a:avLst/>
          </a:prstGeom>
        </p:spPr>
      </p:pic>
      <p:pic>
        <p:nvPicPr>
          <p:cNvPr id="25" name="Graphic 24" descr="Rocket with solid fill">
            <a:extLst>
              <a:ext uri="{FF2B5EF4-FFF2-40B4-BE49-F238E27FC236}">
                <a16:creationId xmlns:a16="http://schemas.microsoft.com/office/drawing/2014/main" id="{64467CBD-B579-7238-CB84-777DB797F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9957" y="2701212"/>
            <a:ext cx="914400" cy="914400"/>
          </a:xfrm>
          <a:prstGeom prst="rect">
            <a:avLst/>
          </a:prstGeom>
        </p:spPr>
      </p:pic>
      <p:pic>
        <p:nvPicPr>
          <p:cNvPr id="27" name="Graphic 26" descr="Chat with solid fill">
            <a:extLst>
              <a:ext uri="{FF2B5EF4-FFF2-40B4-BE49-F238E27FC236}">
                <a16:creationId xmlns:a16="http://schemas.microsoft.com/office/drawing/2014/main" id="{8F4954C0-7A1A-D600-CD3B-82FEEAAF2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2557" y="2701212"/>
            <a:ext cx="914400" cy="914400"/>
          </a:xfrm>
          <a:prstGeom prst="rect">
            <a:avLst/>
          </a:prstGeom>
        </p:spPr>
      </p:pic>
      <p:pic>
        <p:nvPicPr>
          <p:cNvPr id="29" name="Graphic 28" descr="Statistics with solid fill">
            <a:extLst>
              <a:ext uri="{FF2B5EF4-FFF2-40B4-BE49-F238E27FC236}">
                <a16:creationId xmlns:a16="http://schemas.microsoft.com/office/drawing/2014/main" id="{5A6861CE-AFCC-E93A-C00C-1516123697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176" y="2701212"/>
            <a:ext cx="914400" cy="914400"/>
          </a:xfrm>
          <a:prstGeom prst="rect">
            <a:avLst/>
          </a:prstGeom>
        </p:spPr>
      </p:pic>
      <p:pic>
        <p:nvPicPr>
          <p:cNvPr id="31" name="Graphic 30" descr="Mop and bucket outline">
            <a:extLst>
              <a:ext uri="{FF2B5EF4-FFF2-40B4-BE49-F238E27FC236}">
                <a16:creationId xmlns:a16="http://schemas.microsoft.com/office/drawing/2014/main" id="{8507BDFA-9484-8EDA-E07E-625365EE3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604" y="2701212"/>
            <a:ext cx="914400" cy="914400"/>
          </a:xfrm>
          <a:prstGeom prst="rect">
            <a:avLst/>
          </a:prstGeom>
        </p:spPr>
      </p:pic>
      <p:pic>
        <p:nvPicPr>
          <p:cNvPr id="33" name="Graphic 32" descr="Database outline">
            <a:extLst>
              <a:ext uri="{FF2B5EF4-FFF2-40B4-BE49-F238E27FC236}">
                <a16:creationId xmlns:a16="http://schemas.microsoft.com/office/drawing/2014/main" id="{EDD2C2AE-9DE5-3D6C-B91C-217C5C684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8173" y="27012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2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BA79-6256-54D8-6196-2B6B9269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of Life</a:t>
            </a:r>
          </a:p>
        </p:txBody>
      </p:sp>
      <p:pic>
        <p:nvPicPr>
          <p:cNvPr id="8" name="Content Placeholder 7" descr="Magnifying glass with solid fill">
            <a:extLst>
              <a:ext uri="{FF2B5EF4-FFF2-40B4-BE49-F238E27FC236}">
                <a16:creationId xmlns:a16="http://schemas.microsoft.com/office/drawing/2014/main" id="{61659EC7-C2DD-5CB0-30FB-F53908A0C1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7215" y="5000015"/>
            <a:ext cx="914400" cy="914400"/>
          </a:xfrm>
        </p:spPr>
      </p:pic>
      <p:pic>
        <p:nvPicPr>
          <p:cNvPr id="10" name="Content Placeholder 9" descr="Postit Notes 3 with solid fill">
            <a:extLst>
              <a:ext uri="{FF2B5EF4-FFF2-40B4-BE49-F238E27FC236}">
                <a16:creationId xmlns:a16="http://schemas.microsoft.com/office/drawing/2014/main" id="{58FF1090-60A9-D345-31D2-86DF1A5316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215" y="3695948"/>
            <a:ext cx="914400" cy="914400"/>
          </a:xfrm>
        </p:spPr>
      </p:pic>
      <p:pic>
        <p:nvPicPr>
          <p:cNvPr id="12" name="Graphic 11" descr="Web design outline">
            <a:extLst>
              <a:ext uri="{FF2B5EF4-FFF2-40B4-BE49-F238E27FC236}">
                <a16:creationId xmlns:a16="http://schemas.microsoft.com/office/drawing/2014/main" id="{B18AE07D-E6FB-00CC-9FBB-630421CF1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215" y="239188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2E02CC-03C3-F67E-ECEF-00715E88D9E5}"/>
              </a:ext>
            </a:extLst>
          </p:cNvPr>
          <p:cNvSpPr txBox="1"/>
          <p:nvPr/>
        </p:nvSpPr>
        <p:spPr>
          <a:xfrm>
            <a:off x="1991762" y="2510528"/>
            <a:ext cx="624824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Transformations </a:t>
            </a:r>
          </a:p>
          <a:p>
            <a:r>
              <a:rPr lang="en-US" dirty="0"/>
              <a:t>LLMs can swiftly join and reshape data based on prompts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8F20E-ED6B-E4C0-D0E9-B295ADD15148}"/>
              </a:ext>
            </a:extLst>
          </p:cNvPr>
          <p:cNvSpPr txBox="1"/>
          <p:nvPr/>
        </p:nvSpPr>
        <p:spPr>
          <a:xfrm>
            <a:off x="1944740" y="3829982"/>
            <a:ext cx="5461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Standardization </a:t>
            </a:r>
          </a:p>
          <a:p>
            <a:r>
              <a:rPr lang="en-US" dirty="0"/>
              <a:t>It can take messy data with multiple expressions of</a:t>
            </a:r>
          </a:p>
          <a:p>
            <a:r>
              <a:rPr lang="en-US" dirty="0"/>
              <a:t> the same data and quickly unify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16B409-F8EF-50C7-DFBD-DF7FA8C2D32D}"/>
              </a:ext>
            </a:extLst>
          </p:cNvPr>
          <p:cNvSpPr txBox="1"/>
          <p:nvPr/>
        </p:nvSpPr>
        <p:spPr>
          <a:xfrm>
            <a:off x="1944740" y="5134049"/>
            <a:ext cx="3729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Spot Outliers </a:t>
            </a:r>
          </a:p>
          <a:p>
            <a:r>
              <a:rPr lang="en-US" dirty="0"/>
              <a:t>Quickly flag anomalies in the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605D85-FBE5-150D-719F-B3CB1A64FF0B}"/>
              </a:ext>
            </a:extLst>
          </p:cNvPr>
          <p:cNvSpPr/>
          <p:nvPr/>
        </p:nvSpPr>
        <p:spPr>
          <a:xfrm>
            <a:off x="8265034" y="2188546"/>
            <a:ext cx="3365241" cy="3929204"/>
          </a:xfrm>
          <a:prstGeom prst="roundRect">
            <a:avLst/>
          </a:prstGeom>
          <a:solidFill>
            <a:srgbClr val="0020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5372B1-2612-9631-F82E-261C2B879489}"/>
              </a:ext>
            </a:extLst>
          </p:cNvPr>
          <p:cNvSpPr txBox="1"/>
          <p:nvPr/>
        </p:nvSpPr>
        <p:spPr>
          <a:xfrm>
            <a:off x="8959242" y="2583487"/>
            <a:ext cx="197682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york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N.Y.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 City</a:t>
            </a:r>
          </a:p>
          <a:p>
            <a:endParaRPr lang="en-US" dirty="0"/>
          </a:p>
          <a:p>
            <a:r>
              <a:rPr lang="en-US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dirty="0"/>
          </a:p>
          <a:p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8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D2F6-0E00-8860-80AF-8B5668CA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and Basic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2C42C3-FE54-2714-ABBB-ECFC76E084C3}"/>
              </a:ext>
            </a:extLst>
          </p:cNvPr>
          <p:cNvSpPr/>
          <p:nvPr/>
        </p:nvSpPr>
        <p:spPr>
          <a:xfrm>
            <a:off x="540000" y="2037030"/>
            <a:ext cx="5115208" cy="3929204"/>
          </a:xfrm>
          <a:prstGeom prst="roundRect">
            <a:avLst/>
          </a:prstGeom>
          <a:solidFill>
            <a:srgbClr val="0020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09200-0BE0-D617-F6E8-0319FA255191}"/>
              </a:ext>
            </a:extLst>
          </p:cNvPr>
          <p:cNvSpPr txBox="1"/>
          <p:nvPr/>
        </p:nvSpPr>
        <p:spPr>
          <a:xfrm>
            <a:off x="895911" y="2372008"/>
            <a:ext cx="440338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Prompt</a:t>
            </a:r>
          </a:p>
          <a:p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Which Region’s sales dropped the most </a:t>
            </a:r>
          </a:p>
          <a:p>
            <a:r>
              <a:rPr lang="en-US" dirty="0"/>
              <a:t>between Q1 and Q2?</a:t>
            </a:r>
          </a:p>
          <a:p>
            <a:endParaRPr lang="en-US" dirty="0"/>
          </a:p>
          <a:p>
            <a:r>
              <a:rPr lang="en-US" dirty="0"/>
              <a:t>The LLM Creates </a:t>
            </a:r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SELECT region,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  SUM(CASE WHEN </a:t>
            </a:r>
            <a:r>
              <a:rPr lang="en-US" sz="1200" dirty="0" err="1">
                <a:ea typeface="Courier New" pitchFamily="34" charset="-122"/>
                <a:cs typeface="Courier New" pitchFamily="34" charset="-120"/>
              </a:rPr>
              <a:t>qtr</a:t>
            </a:r>
            <a:r>
              <a:rPr lang="en-US" sz="1200" dirty="0">
                <a:ea typeface="Courier New" pitchFamily="34" charset="-122"/>
                <a:cs typeface="Courier New" pitchFamily="34" charset="-120"/>
              </a:rPr>
              <a:t>='Q2' THEN sales END)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  - SUM(CASE WHEN </a:t>
            </a:r>
            <a:r>
              <a:rPr lang="en-US" sz="1200" dirty="0" err="1">
                <a:ea typeface="Courier New" pitchFamily="34" charset="-122"/>
                <a:cs typeface="Courier New" pitchFamily="34" charset="-120"/>
              </a:rPr>
              <a:t>qtr</a:t>
            </a:r>
            <a:r>
              <a:rPr lang="en-US" sz="1200" dirty="0">
                <a:ea typeface="Courier New" pitchFamily="34" charset="-122"/>
                <a:cs typeface="Courier New" pitchFamily="34" charset="-120"/>
              </a:rPr>
              <a:t>='Q1' THEN sales END)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  AS change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1200" dirty="0"/>
          </a:p>
          <a:p>
            <a:r>
              <a:rPr lang="en-US" sz="1200" dirty="0">
                <a:ea typeface="Courier New" pitchFamily="34" charset="-122"/>
                <a:cs typeface="Courier New" pitchFamily="34" charset="-120"/>
              </a:rPr>
              <a:t>ORDER BY change;</a:t>
            </a:r>
            <a:endParaRPr lang="en-US" sz="1200" dirty="0"/>
          </a:p>
        </p:txBody>
      </p:sp>
      <p:sp>
        <p:nvSpPr>
          <p:cNvPr id="7" name="Icon badge">
            <a:extLst>
              <a:ext uri="{FF2B5EF4-FFF2-40B4-BE49-F238E27FC236}">
                <a16:creationId xmlns:a16="http://schemas.microsoft.com/office/drawing/2014/main" id="{ECDB85A4-4B17-6AF8-C051-2426BCC3D062}"/>
              </a:ext>
            </a:extLst>
          </p:cNvPr>
          <p:cNvSpPr/>
          <p:nvPr/>
        </p:nvSpPr>
        <p:spPr>
          <a:xfrm>
            <a:off x="6561847" y="2410999"/>
            <a:ext cx="705869" cy="705869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Icon" descr="FaCode">
            <a:extLst>
              <a:ext uri="{FF2B5EF4-FFF2-40B4-BE49-F238E27FC236}">
                <a16:creationId xmlns:a16="http://schemas.microsoft.com/office/drawing/2014/main" id="{82C4AB03-24BB-2395-0404-1C858F12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305" y="2548457"/>
            <a:ext cx="430952" cy="430952"/>
          </a:xfrm>
          <a:prstGeom prst="rect">
            <a:avLst/>
          </a:prstGeom>
        </p:spPr>
      </p:pic>
      <p:sp>
        <p:nvSpPr>
          <p:cNvPr id="9" name="Icon badge">
            <a:extLst>
              <a:ext uri="{FF2B5EF4-FFF2-40B4-BE49-F238E27FC236}">
                <a16:creationId xmlns:a16="http://schemas.microsoft.com/office/drawing/2014/main" id="{3B8BE8FB-DAF2-11AE-F419-101ABE93946E}"/>
              </a:ext>
            </a:extLst>
          </p:cNvPr>
          <p:cNvSpPr/>
          <p:nvPr/>
        </p:nvSpPr>
        <p:spPr>
          <a:xfrm>
            <a:off x="6555195" y="3778269"/>
            <a:ext cx="705869" cy="705869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0" name="Icon" descr="FaLightbulb">
            <a:extLst>
              <a:ext uri="{FF2B5EF4-FFF2-40B4-BE49-F238E27FC236}">
                <a16:creationId xmlns:a16="http://schemas.microsoft.com/office/drawing/2014/main" id="{24E68EF1-7593-49EA-E1CD-87FC2E8E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28" y="3935902"/>
            <a:ext cx="390602" cy="390602"/>
          </a:xfrm>
          <a:prstGeom prst="rect">
            <a:avLst/>
          </a:prstGeom>
        </p:spPr>
      </p:pic>
      <p:sp>
        <p:nvSpPr>
          <p:cNvPr id="11" name="Icon badge">
            <a:extLst>
              <a:ext uri="{FF2B5EF4-FFF2-40B4-BE49-F238E27FC236}">
                <a16:creationId xmlns:a16="http://schemas.microsoft.com/office/drawing/2014/main" id="{AE2F33E8-69EF-C83C-56DD-C70B35D1DB12}"/>
              </a:ext>
            </a:extLst>
          </p:cNvPr>
          <p:cNvSpPr/>
          <p:nvPr/>
        </p:nvSpPr>
        <p:spPr>
          <a:xfrm>
            <a:off x="6555195" y="5066061"/>
            <a:ext cx="705869" cy="705869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2" name="Icon" descr="FaBookOpen">
            <a:extLst>
              <a:ext uri="{FF2B5EF4-FFF2-40B4-BE49-F238E27FC236}">
                <a16:creationId xmlns:a16="http://schemas.microsoft.com/office/drawing/2014/main" id="{7164AC3E-8665-52F6-39A9-C78AD08B3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828" y="5223694"/>
            <a:ext cx="390602" cy="3906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D11593-B81B-AAF4-F610-70E56ED6A2ED}"/>
              </a:ext>
            </a:extLst>
          </p:cNvPr>
          <p:cNvSpPr txBox="1"/>
          <p:nvPr/>
        </p:nvSpPr>
        <p:spPr>
          <a:xfrm>
            <a:off x="7532283" y="2579268"/>
            <a:ext cx="3424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Programs from plain Language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18D0AA-78E0-8ED0-506F-1CC0CD2FD4CC}"/>
              </a:ext>
            </a:extLst>
          </p:cNvPr>
          <p:cNvSpPr txBox="1"/>
          <p:nvPr/>
        </p:nvSpPr>
        <p:spPr>
          <a:xfrm>
            <a:off x="7532283" y="3935902"/>
            <a:ext cx="266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Hypotheses and Visuals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48DF5-5829-CE0B-7B66-0E87152B309A}"/>
              </a:ext>
            </a:extLst>
          </p:cNvPr>
          <p:cNvSpPr txBox="1"/>
          <p:nvPr/>
        </p:nvSpPr>
        <p:spPr>
          <a:xfrm>
            <a:off x="7532283" y="5223694"/>
            <a:ext cx="355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Explaining The code and output</a:t>
            </a:r>
          </a:p>
        </p:txBody>
      </p:sp>
    </p:spTree>
    <p:extLst>
      <p:ext uri="{BB962C8B-B14F-4D97-AF65-F5344CB8AC3E}">
        <p14:creationId xmlns:p14="http://schemas.microsoft.com/office/powerpoint/2010/main" val="32193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FDAD-D01C-6FD5-D6BC-C0BB5619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Risks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133A37-A079-EA14-F7FC-C6E9C0C6EDF4}"/>
              </a:ext>
            </a:extLst>
          </p:cNvPr>
          <p:cNvSpPr/>
          <p:nvPr/>
        </p:nvSpPr>
        <p:spPr>
          <a:xfrm>
            <a:off x="669956" y="2136618"/>
            <a:ext cx="5088048" cy="1726751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AC511F-3A6F-1C89-B201-0820129A2B4C}"/>
              </a:ext>
            </a:extLst>
          </p:cNvPr>
          <p:cNvSpPr/>
          <p:nvPr/>
        </p:nvSpPr>
        <p:spPr>
          <a:xfrm>
            <a:off x="669956" y="4388651"/>
            <a:ext cx="5088048" cy="1726751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81317F-D0DF-74E8-A9AB-31EDD3C72E23}"/>
              </a:ext>
            </a:extLst>
          </p:cNvPr>
          <p:cNvSpPr/>
          <p:nvPr/>
        </p:nvSpPr>
        <p:spPr>
          <a:xfrm>
            <a:off x="6165410" y="2136618"/>
            <a:ext cx="5088048" cy="1726751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BB6779-C306-A9B2-CB20-7F16727A18EE}"/>
              </a:ext>
            </a:extLst>
          </p:cNvPr>
          <p:cNvSpPr/>
          <p:nvPr/>
        </p:nvSpPr>
        <p:spPr>
          <a:xfrm>
            <a:off x="6165410" y="4388651"/>
            <a:ext cx="5088048" cy="1726751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FC55F-CA6A-4B6F-E925-CFEF7E1EB30C}"/>
              </a:ext>
            </a:extLst>
          </p:cNvPr>
          <p:cNvSpPr txBox="1"/>
          <p:nvPr/>
        </p:nvSpPr>
        <p:spPr>
          <a:xfrm>
            <a:off x="1682620" y="2458473"/>
            <a:ext cx="2642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Deceptively Incorrect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730A3-F20A-3097-CE53-6CF66F566606}"/>
              </a:ext>
            </a:extLst>
          </p:cNvPr>
          <p:cNvSpPr txBox="1"/>
          <p:nvPr/>
        </p:nvSpPr>
        <p:spPr>
          <a:xfrm>
            <a:off x="1682620" y="2905780"/>
            <a:ext cx="3978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The AI can insert data and stats that look right, </a:t>
            </a:r>
          </a:p>
          <a:p>
            <a:r>
              <a:rPr lang="en-US" sz="1400" dirty="0">
                <a:solidFill>
                  <a:schemeClr val="bg2"/>
                </a:solidFill>
              </a:rPr>
              <a:t>but are not part of the dataset</a:t>
            </a:r>
          </a:p>
        </p:txBody>
      </p:sp>
      <p:pic>
        <p:nvPicPr>
          <p:cNvPr id="15" name="Graphic 14" descr="Bug with solid fill">
            <a:extLst>
              <a:ext uri="{FF2B5EF4-FFF2-40B4-BE49-F238E27FC236}">
                <a16:creationId xmlns:a16="http://schemas.microsoft.com/office/drawing/2014/main" id="{47E23B7A-E78B-33E4-263A-9F56BC514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8014" y="244858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F24B1E-1FBF-7240-803C-2F3674DE13ED}"/>
              </a:ext>
            </a:extLst>
          </p:cNvPr>
          <p:cNvSpPr txBox="1"/>
          <p:nvPr/>
        </p:nvSpPr>
        <p:spPr>
          <a:xfrm>
            <a:off x="7482782" y="2536448"/>
            <a:ext cx="241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Privacy and security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546A8-0DA3-6A26-1FE1-D3C3A96A9B01}"/>
              </a:ext>
            </a:extLst>
          </p:cNvPr>
          <p:cNvSpPr txBox="1"/>
          <p:nvPr/>
        </p:nvSpPr>
        <p:spPr>
          <a:xfrm>
            <a:off x="7482782" y="2936024"/>
            <a:ext cx="3026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Sensitive data should be protected</a:t>
            </a:r>
          </a:p>
        </p:txBody>
      </p:sp>
      <p:pic>
        <p:nvPicPr>
          <p:cNvPr id="19" name="Graphic 18" descr="Lock with solid fill">
            <a:extLst>
              <a:ext uri="{FF2B5EF4-FFF2-40B4-BE49-F238E27FC236}">
                <a16:creationId xmlns:a16="http://schemas.microsoft.com/office/drawing/2014/main" id="{A42CCCB2-2352-17EA-6479-A6249A310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9199" y="2478824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2A4226A-A2F7-DD84-EAEC-C27BEA0E1F33}"/>
              </a:ext>
            </a:extLst>
          </p:cNvPr>
          <p:cNvSpPr txBox="1"/>
          <p:nvPr/>
        </p:nvSpPr>
        <p:spPr>
          <a:xfrm>
            <a:off x="1901228" y="4793209"/>
            <a:ext cx="1912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Reproducibility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125107-DF0E-700D-6B53-D1E885AD1784}"/>
              </a:ext>
            </a:extLst>
          </p:cNvPr>
          <p:cNvSpPr txBox="1"/>
          <p:nvPr/>
        </p:nvSpPr>
        <p:spPr>
          <a:xfrm>
            <a:off x="1901228" y="5240516"/>
            <a:ext cx="2700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Same prompt, different answer</a:t>
            </a:r>
          </a:p>
        </p:txBody>
      </p:sp>
      <p:pic>
        <p:nvPicPr>
          <p:cNvPr id="23" name="Graphic 22" descr="Refresh with solid fill">
            <a:extLst>
              <a:ext uri="{FF2B5EF4-FFF2-40B4-BE49-F238E27FC236}">
                <a16:creationId xmlns:a16="http://schemas.microsoft.com/office/drawing/2014/main" id="{AC7D5AFF-98D6-7648-D2D2-9FA518A7A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542" y="4783316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C82314-69FE-B016-471C-6EB098409912}"/>
              </a:ext>
            </a:extLst>
          </p:cNvPr>
          <p:cNvSpPr txBox="1"/>
          <p:nvPr/>
        </p:nvSpPr>
        <p:spPr>
          <a:xfrm>
            <a:off x="7482782" y="4793209"/>
            <a:ext cx="16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Over-trusted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EFF422-57F3-35AB-939A-B0FD2D53B8C7}"/>
              </a:ext>
            </a:extLst>
          </p:cNvPr>
          <p:cNvSpPr txBox="1"/>
          <p:nvPr/>
        </p:nvSpPr>
        <p:spPr>
          <a:xfrm>
            <a:off x="7491951" y="5162541"/>
            <a:ext cx="3241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Skills fade and errors are not checked</a:t>
            </a:r>
          </a:p>
        </p:txBody>
      </p:sp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7E9E9278-BF70-04A6-D52A-1FF886AFF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9199" y="47053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6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6810A5E7-E89F-C03A-350E-66AC26601E04}"/>
              </a:ext>
            </a:extLst>
          </p:cNvPr>
          <p:cNvSpPr/>
          <p:nvPr/>
        </p:nvSpPr>
        <p:spPr>
          <a:xfrm>
            <a:off x="276366" y="3681429"/>
            <a:ext cx="3019095" cy="758228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A6E35746-8974-2B4A-7F71-94740F64759D}"/>
              </a:ext>
            </a:extLst>
          </p:cNvPr>
          <p:cNvSpPr/>
          <p:nvPr/>
        </p:nvSpPr>
        <p:spPr>
          <a:xfrm>
            <a:off x="276367" y="4645544"/>
            <a:ext cx="3019094" cy="758228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FFE42B3D-43CF-3A58-E197-0A2C58F4C5D4}"/>
              </a:ext>
            </a:extLst>
          </p:cNvPr>
          <p:cNvSpPr/>
          <p:nvPr/>
        </p:nvSpPr>
        <p:spPr>
          <a:xfrm>
            <a:off x="276368" y="5556172"/>
            <a:ext cx="3019093" cy="758228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F40A649-4720-59EB-7EBA-F7D63C15B9C9}"/>
              </a:ext>
            </a:extLst>
          </p:cNvPr>
          <p:cNvSpPr/>
          <p:nvPr/>
        </p:nvSpPr>
        <p:spPr>
          <a:xfrm>
            <a:off x="313236" y="2743200"/>
            <a:ext cx="2982225" cy="758228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92288-52EF-EA4A-413E-0582A91B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changing role of a data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DBB2-99F4-C1A1-D0C7-2F2647A25C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Skills that set us apart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Problem framing </a:t>
            </a:r>
          </a:p>
          <a:p>
            <a:pPr marL="0" indent="0">
              <a:buNone/>
            </a:pPr>
            <a:endParaRPr lang="en-US" sz="2000" b="1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Domain knowledge </a:t>
            </a:r>
          </a:p>
          <a:p>
            <a:pPr marL="0" indent="0">
              <a:buNone/>
            </a:pPr>
            <a:endParaRPr lang="en-US" sz="2000" b="1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Analysis</a:t>
            </a:r>
          </a:p>
          <a:p>
            <a:pPr marL="0" indent="0">
              <a:buNone/>
            </a:pPr>
            <a:endParaRPr lang="en-US" sz="2000" b="1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Communication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427EB-BCF1-10BB-76F2-F0A2AC80C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32147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Conclusion</a:t>
            </a:r>
          </a:p>
          <a:p>
            <a:pPr marL="0" indent="0">
              <a:buNone/>
            </a:pPr>
            <a:r>
              <a:rPr lang="en-US" dirty="0"/>
              <a:t>LLMs speed up workflow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Verification is a necessity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Judgement and Direction come from people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C73610-6FF4-C292-EF99-DE6E1DAD85C1}"/>
              </a:ext>
            </a:extLst>
          </p:cNvPr>
          <p:cNvSpPr txBox="1"/>
          <p:nvPr/>
        </p:nvSpPr>
        <p:spPr>
          <a:xfrm>
            <a:off x="5828968" y="2752253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7A609F-6D2A-7ADA-0B65-F6B5D229E772}"/>
              </a:ext>
            </a:extLst>
          </p:cNvPr>
          <p:cNvSpPr txBox="1"/>
          <p:nvPr/>
        </p:nvSpPr>
        <p:spPr>
          <a:xfrm>
            <a:off x="5832678" y="3584308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549D7D-74A5-9C79-4AFC-E1C98A65D29B}"/>
              </a:ext>
            </a:extLst>
          </p:cNvPr>
          <p:cNvSpPr txBox="1"/>
          <p:nvPr/>
        </p:nvSpPr>
        <p:spPr>
          <a:xfrm>
            <a:off x="5853111" y="4439657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9379600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269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Bell MT</vt:lpstr>
      <vt:lpstr>Calibri</vt:lpstr>
      <vt:lpstr>Courier New</vt:lpstr>
      <vt:lpstr>GlowVTI</vt:lpstr>
      <vt:lpstr>LLMs and Data Science</vt:lpstr>
      <vt:lpstr>The Impact </vt:lpstr>
      <vt:lpstr>The Change to Workflow</vt:lpstr>
      <vt:lpstr>Quality of Life</vt:lpstr>
      <vt:lpstr>Quick and Basic</vt:lpstr>
      <vt:lpstr>The Risks</vt:lpstr>
      <vt:lpstr>The changing role of a data scientist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Roe, Keenan Richard</dc:creator>
  <cp:lastModifiedBy>Roe, Keenan Richard</cp:lastModifiedBy>
  <cp:revision>1</cp:revision>
  <dcterms:created xsi:type="dcterms:W3CDTF">2026-10-01T21:41:06Z</dcterms:created>
  <dcterms:modified xsi:type="dcterms:W3CDTF">2026-10-01T22:43:14Z</dcterms:modified>
</cp:coreProperties>
</file>